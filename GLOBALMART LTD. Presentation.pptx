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Poppins Bold" charset="1" panose="00000800000000000000"/>
      <p:regular r:id="rId17"/>
    </p:embeddedFont>
    <p:embeddedFont>
      <p:font typeface="Arimo" charset="1" panose="020B0604020202020204"/>
      <p:regular r:id="rId18"/>
    </p:embeddedFont>
    <p:embeddedFont>
      <p:font typeface="Poppins Medium" charset="1" panose="00000600000000000000"/>
      <p:regular r:id="rId19"/>
    </p:embeddedFont>
    <p:embeddedFont>
      <p:font typeface="Arimo Bold" charset="1" panose="020B070402020202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Relationship Id="rId9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Relationship Id="rId9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Relationship Id="rId9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svg" Type="http://schemas.openxmlformats.org/officeDocument/2006/relationships/image"/><Relationship Id="rId11" Target="../media/image6.png" Type="http://schemas.openxmlformats.org/officeDocument/2006/relationships/image"/><Relationship Id="rId2" Target="../media/image1.pn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23.png" Type="http://schemas.openxmlformats.org/officeDocument/2006/relationships/image"/><Relationship Id="rId6" Target="../media/image24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5.png" Type="http://schemas.openxmlformats.org/officeDocument/2006/relationships/image"/><Relationship Id="rId4" Target="../media/image26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7.png" Type="http://schemas.openxmlformats.org/officeDocument/2006/relationships/image"/><Relationship Id="rId4" Target="../media/image28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314575" y="4193757"/>
            <a:ext cx="7141552" cy="7141552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8F4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371975" y="980590"/>
            <a:ext cx="3213168" cy="321316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313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7164635" y="4903616"/>
            <a:ext cx="7455761" cy="7062639"/>
          </a:xfrm>
          <a:custGeom>
            <a:avLst/>
            <a:gdLst/>
            <a:ahLst/>
            <a:cxnLst/>
            <a:rect r="r" b="b" t="t" l="l"/>
            <a:pathLst>
              <a:path h="7062639" w="7455761">
                <a:moveTo>
                  <a:pt x="0" y="0"/>
                </a:moveTo>
                <a:lnTo>
                  <a:pt x="7455761" y="0"/>
                </a:lnTo>
                <a:lnTo>
                  <a:pt x="7455761" y="7062638"/>
                </a:lnTo>
                <a:lnTo>
                  <a:pt x="0" y="70626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8654571" y="8708006"/>
            <a:ext cx="5129683" cy="982412"/>
            <a:chOff x="0" y="0"/>
            <a:chExt cx="1351028" cy="25874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51028" cy="258742"/>
            </a:xfrm>
            <a:custGeom>
              <a:avLst/>
              <a:gdLst/>
              <a:ahLst/>
              <a:cxnLst/>
              <a:rect r="r" b="b" t="t" l="l"/>
              <a:pathLst>
                <a:path h="258742" w="1351028">
                  <a:moveTo>
                    <a:pt x="129371" y="0"/>
                  </a:moveTo>
                  <a:lnTo>
                    <a:pt x="1221657" y="0"/>
                  </a:lnTo>
                  <a:cubicBezTo>
                    <a:pt x="1293106" y="0"/>
                    <a:pt x="1351028" y="57921"/>
                    <a:pt x="1351028" y="129371"/>
                  </a:cubicBezTo>
                  <a:lnTo>
                    <a:pt x="1351028" y="129371"/>
                  </a:lnTo>
                  <a:cubicBezTo>
                    <a:pt x="1351028" y="163682"/>
                    <a:pt x="1337398" y="196588"/>
                    <a:pt x="1313136" y="220850"/>
                  </a:cubicBezTo>
                  <a:cubicBezTo>
                    <a:pt x="1288874" y="245112"/>
                    <a:pt x="1255968" y="258742"/>
                    <a:pt x="1221657" y="258742"/>
                  </a:cubicBezTo>
                  <a:lnTo>
                    <a:pt x="129371" y="258742"/>
                  </a:lnTo>
                  <a:cubicBezTo>
                    <a:pt x="95060" y="258742"/>
                    <a:pt x="62154" y="245112"/>
                    <a:pt x="37892" y="220850"/>
                  </a:cubicBezTo>
                  <a:cubicBezTo>
                    <a:pt x="13630" y="196588"/>
                    <a:pt x="0" y="163682"/>
                    <a:pt x="0" y="129371"/>
                  </a:cubicBezTo>
                  <a:lnTo>
                    <a:pt x="0" y="129371"/>
                  </a:lnTo>
                  <a:cubicBezTo>
                    <a:pt x="0" y="95060"/>
                    <a:pt x="13630" y="62154"/>
                    <a:pt x="37892" y="37892"/>
                  </a:cubicBezTo>
                  <a:cubicBezTo>
                    <a:pt x="62154" y="13630"/>
                    <a:pt x="95060" y="0"/>
                    <a:pt x="129371" y="0"/>
                  </a:cubicBezTo>
                  <a:close/>
                </a:path>
              </a:pathLst>
            </a:custGeom>
            <a:solidFill>
              <a:srgbClr val="FFC313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351028" cy="2873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028478" y="-695239"/>
            <a:ext cx="1479650" cy="147965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752B2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576398" y="9258300"/>
            <a:ext cx="1904535" cy="1904535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8F46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6874081" y="1440104"/>
            <a:ext cx="1653214" cy="2075954"/>
          </a:xfrm>
          <a:custGeom>
            <a:avLst/>
            <a:gdLst/>
            <a:ahLst/>
            <a:cxnLst/>
            <a:rect r="r" b="b" t="t" l="l"/>
            <a:pathLst>
              <a:path h="2075954" w="1653214">
                <a:moveTo>
                  <a:pt x="0" y="0"/>
                </a:moveTo>
                <a:lnTo>
                  <a:pt x="1653214" y="0"/>
                </a:lnTo>
                <a:lnTo>
                  <a:pt x="1653214" y="2075954"/>
                </a:lnTo>
                <a:lnTo>
                  <a:pt x="0" y="20759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7230792" y="3706693"/>
            <a:ext cx="10642366" cy="2492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86"/>
              </a:lnSpc>
            </a:pPr>
            <a:r>
              <a:rPr lang="en-US" sz="580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GLOBALMART LTD. SUPPLY CHA</a:t>
            </a:r>
            <a:r>
              <a:rPr lang="en-US" b="true" sz="580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 &amp; BUSINESS PERFORMANCE ANALYTICS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997860" y="8898141"/>
            <a:ext cx="4152886" cy="469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7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Uthman Abdulbaki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291126" y="0"/>
            <a:ext cx="4138132" cy="2926004"/>
          </a:xfrm>
          <a:custGeom>
            <a:avLst/>
            <a:gdLst/>
            <a:ahLst/>
            <a:cxnLst/>
            <a:rect r="r" b="b" t="t" l="l"/>
            <a:pathLst>
              <a:path h="2926004" w="4138132">
                <a:moveTo>
                  <a:pt x="0" y="0"/>
                </a:moveTo>
                <a:lnTo>
                  <a:pt x="4138132" y="0"/>
                </a:lnTo>
                <a:lnTo>
                  <a:pt x="4138132" y="2926004"/>
                </a:lnTo>
                <a:lnTo>
                  <a:pt x="0" y="29260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752058" y="-1507838"/>
            <a:ext cx="5561515" cy="5561515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8F4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5632748" y="2224874"/>
            <a:ext cx="6661448" cy="5220153"/>
          </a:xfrm>
          <a:custGeom>
            <a:avLst/>
            <a:gdLst/>
            <a:ahLst/>
            <a:cxnLst/>
            <a:rect r="r" b="b" t="t" l="l"/>
            <a:pathLst>
              <a:path h="5220153" w="6661448">
                <a:moveTo>
                  <a:pt x="0" y="0"/>
                </a:moveTo>
                <a:lnTo>
                  <a:pt x="6661448" y="0"/>
                </a:lnTo>
                <a:lnTo>
                  <a:pt x="6661448" y="5220153"/>
                </a:lnTo>
                <a:lnTo>
                  <a:pt x="0" y="52201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888915" y="0"/>
            <a:ext cx="8399085" cy="10287000"/>
            <a:chOff x="0" y="0"/>
            <a:chExt cx="2212105" cy="27093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12105" cy="2709333"/>
            </a:xfrm>
            <a:custGeom>
              <a:avLst/>
              <a:gdLst/>
              <a:ahLst/>
              <a:cxnLst/>
              <a:rect r="r" b="b" t="t" l="l"/>
              <a:pathLst>
                <a:path h="2709333" w="2212105">
                  <a:moveTo>
                    <a:pt x="0" y="0"/>
                  </a:moveTo>
                  <a:lnTo>
                    <a:pt x="2212105" y="0"/>
                  </a:lnTo>
                  <a:lnTo>
                    <a:pt x="221210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C313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2212105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75784" y="3524491"/>
            <a:ext cx="9013132" cy="2135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62"/>
              </a:lnSpc>
            </a:pPr>
            <a:r>
              <a:rPr lang="en-US" sz="7329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Business Problem</a:t>
            </a:r>
            <a:r>
              <a:rPr lang="en-US" b="true" sz="7329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Overview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03451" y="4172459"/>
            <a:ext cx="7770012" cy="1923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7"/>
              </a:lnSpc>
            </a:pPr>
            <a:r>
              <a:rPr lang="en-US" sz="3156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Globa</a:t>
            </a:r>
            <a:r>
              <a:rPr lang="en-US" sz="3156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lMart experienced increasing delivery delays, inventory management challenges, flat profit margins, and limited reporting visibility despite continued revenue growth.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041001" y="4592000"/>
            <a:ext cx="855510" cy="85551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313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-449442" y="9496378"/>
            <a:ext cx="1922190" cy="1051962"/>
          </a:xfrm>
          <a:custGeom>
            <a:avLst/>
            <a:gdLst/>
            <a:ahLst/>
            <a:cxnLst/>
            <a:rect r="r" b="b" t="t" l="l"/>
            <a:pathLst>
              <a:path h="1051962" w="1922190">
                <a:moveTo>
                  <a:pt x="0" y="0"/>
                </a:moveTo>
                <a:lnTo>
                  <a:pt x="1922190" y="0"/>
                </a:lnTo>
                <a:lnTo>
                  <a:pt x="1922190" y="1051962"/>
                </a:lnTo>
                <a:lnTo>
                  <a:pt x="0" y="10519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6766666" y="-482265"/>
            <a:ext cx="1752583" cy="1752583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3C88D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7490786" y="-236218"/>
            <a:ext cx="1653214" cy="2075954"/>
          </a:xfrm>
          <a:custGeom>
            <a:avLst/>
            <a:gdLst/>
            <a:ahLst/>
            <a:cxnLst/>
            <a:rect r="r" b="b" t="t" l="l"/>
            <a:pathLst>
              <a:path h="2075954" w="1653214">
                <a:moveTo>
                  <a:pt x="0" y="0"/>
                </a:moveTo>
                <a:lnTo>
                  <a:pt x="1653214" y="0"/>
                </a:lnTo>
                <a:lnTo>
                  <a:pt x="1653214" y="2075954"/>
                </a:lnTo>
                <a:lnTo>
                  <a:pt x="0" y="20759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62443" y="7445027"/>
            <a:ext cx="4138132" cy="2926004"/>
          </a:xfrm>
          <a:custGeom>
            <a:avLst/>
            <a:gdLst/>
            <a:ahLst/>
            <a:cxnLst/>
            <a:rect r="r" b="b" t="t" l="l"/>
            <a:pathLst>
              <a:path h="2926004" w="4138132">
                <a:moveTo>
                  <a:pt x="0" y="0"/>
                </a:moveTo>
                <a:lnTo>
                  <a:pt x="4138132" y="0"/>
                </a:lnTo>
                <a:lnTo>
                  <a:pt x="4138132" y="2926004"/>
                </a:lnTo>
                <a:lnTo>
                  <a:pt x="0" y="292600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706843" y="-490243"/>
            <a:ext cx="8069105" cy="8069105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31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3801049" y="2793657"/>
            <a:ext cx="7281479" cy="4977884"/>
          </a:xfrm>
          <a:custGeom>
            <a:avLst/>
            <a:gdLst/>
            <a:ahLst/>
            <a:cxnLst/>
            <a:rect r="r" b="b" t="t" l="l"/>
            <a:pathLst>
              <a:path h="4977884" w="7281479">
                <a:moveTo>
                  <a:pt x="0" y="0"/>
                </a:moveTo>
                <a:lnTo>
                  <a:pt x="7281479" y="0"/>
                </a:lnTo>
                <a:lnTo>
                  <a:pt x="7281479" y="4977883"/>
                </a:lnTo>
                <a:lnTo>
                  <a:pt x="0" y="49778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708040" y="9225129"/>
            <a:ext cx="2123741" cy="2123741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8F4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5788355" y="-490243"/>
            <a:ext cx="1922190" cy="1051962"/>
          </a:xfrm>
          <a:custGeom>
            <a:avLst/>
            <a:gdLst/>
            <a:ahLst/>
            <a:cxnLst/>
            <a:rect r="r" b="b" t="t" l="l"/>
            <a:pathLst>
              <a:path h="1051962" w="1922190">
                <a:moveTo>
                  <a:pt x="0" y="0"/>
                </a:moveTo>
                <a:lnTo>
                  <a:pt x="1922190" y="0"/>
                </a:lnTo>
                <a:lnTo>
                  <a:pt x="1922190" y="1051962"/>
                </a:lnTo>
                <a:lnTo>
                  <a:pt x="0" y="10519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072046" y="-9277"/>
            <a:ext cx="1653214" cy="2075954"/>
          </a:xfrm>
          <a:custGeom>
            <a:avLst/>
            <a:gdLst/>
            <a:ahLst/>
            <a:cxnLst/>
            <a:rect r="r" b="b" t="t" l="l"/>
            <a:pathLst>
              <a:path h="2075954" w="1653214">
                <a:moveTo>
                  <a:pt x="0" y="0"/>
                </a:moveTo>
                <a:lnTo>
                  <a:pt x="1653214" y="0"/>
                </a:lnTo>
                <a:lnTo>
                  <a:pt x="1653214" y="2075954"/>
                </a:lnTo>
                <a:lnTo>
                  <a:pt x="0" y="20759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53831" y="-490243"/>
            <a:ext cx="4138132" cy="2926004"/>
          </a:xfrm>
          <a:custGeom>
            <a:avLst/>
            <a:gdLst/>
            <a:ahLst/>
            <a:cxnLst/>
            <a:rect r="r" b="b" t="t" l="l"/>
            <a:pathLst>
              <a:path h="2926004" w="4138132">
                <a:moveTo>
                  <a:pt x="0" y="0"/>
                </a:moveTo>
                <a:lnTo>
                  <a:pt x="4138132" y="0"/>
                </a:lnTo>
                <a:lnTo>
                  <a:pt x="4138132" y="2926004"/>
                </a:lnTo>
                <a:lnTo>
                  <a:pt x="0" y="292600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650710" y="2284386"/>
            <a:ext cx="8637183" cy="1018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70"/>
              </a:lnSpc>
            </a:pPr>
            <a:r>
              <a:rPr lang="en-US" sz="6700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Methodolo</a:t>
            </a:r>
            <a:r>
              <a:rPr lang="en-US" sz="6700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888826" y="4179981"/>
            <a:ext cx="14510348" cy="3455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1755" indent="-410878" lvl="1">
              <a:lnSpc>
                <a:spcPts val="4567"/>
              </a:lnSpc>
              <a:buFont typeface="Arial"/>
              <a:buChar char="•"/>
            </a:pPr>
            <a:r>
              <a:rPr lang="en-US" b="true" sz="3806">
                <a:solidFill>
                  <a:srgbClr val="545454"/>
                </a:solidFill>
                <a:latin typeface="Arimo Bold"/>
                <a:ea typeface="Arimo Bold"/>
                <a:cs typeface="Arimo Bold"/>
                <a:sym typeface="Arimo Bold"/>
              </a:rPr>
              <a:t>Data Cleaning using Power Query</a:t>
            </a:r>
          </a:p>
          <a:p>
            <a:pPr algn="l" marL="821755" indent="-410878" lvl="1">
              <a:lnSpc>
                <a:spcPts val="4567"/>
              </a:lnSpc>
              <a:buFont typeface="Arial"/>
              <a:buChar char="•"/>
            </a:pPr>
            <a:r>
              <a:rPr lang="en-US" b="true" sz="3806">
                <a:solidFill>
                  <a:srgbClr val="545454"/>
                </a:solidFill>
                <a:latin typeface="Arimo Bold"/>
                <a:ea typeface="Arimo Bold"/>
                <a:cs typeface="Arimo Bold"/>
                <a:sym typeface="Arimo Bold"/>
              </a:rPr>
              <a:t>Data Transformation</a:t>
            </a:r>
          </a:p>
          <a:p>
            <a:pPr algn="l" marL="821755" indent="-410878" lvl="1">
              <a:lnSpc>
                <a:spcPts val="4567"/>
              </a:lnSpc>
              <a:buFont typeface="Arial"/>
              <a:buChar char="•"/>
            </a:pPr>
            <a:r>
              <a:rPr lang="en-US" b="true" sz="3806">
                <a:solidFill>
                  <a:srgbClr val="545454"/>
                </a:solidFill>
                <a:latin typeface="Arimo Bold"/>
                <a:ea typeface="Arimo Bold"/>
                <a:cs typeface="Arimo Bold"/>
                <a:sym typeface="Arimo Bold"/>
              </a:rPr>
              <a:t>DAX Measure Creation</a:t>
            </a:r>
          </a:p>
          <a:p>
            <a:pPr algn="l" marL="821755" indent="-410878" lvl="1">
              <a:lnSpc>
                <a:spcPts val="4567"/>
              </a:lnSpc>
              <a:buFont typeface="Arial"/>
              <a:buChar char="•"/>
            </a:pPr>
            <a:r>
              <a:rPr lang="en-US" b="true" sz="3806">
                <a:solidFill>
                  <a:srgbClr val="545454"/>
                </a:solidFill>
                <a:latin typeface="Arimo Bold"/>
                <a:ea typeface="Arimo Bold"/>
                <a:cs typeface="Arimo Bold"/>
                <a:sym typeface="Arimo Bold"/>
              </a:rPr>
              <a:t>Dashboard Development in Power BI</a:t>
            </a:r>
          </a:p>
          <a:p>
            <a:pPr algn="l" marL="821755" indent="-410878" lvl="1">
              <a:lnSpc>
                <a:spcPts val="4567"/>
              </a:lnSpc>
              <a:buFont typeface="Arial"/>
              <a:buChar char="•"/>
            </a:pPr>
            <a:r>
              <a:rPr lang="en-US" b="true" sz="3806">
                <a:solidFill>
                  <a:srgbClr val="545454"/>
                </a:solidFill>
                <a:latin typeface="Arimo Bold"/>
                <a:ea typeface="Arimo Bold"/>
                <a:cs typeface="Arimo Bold"/>
                <a:sym typeface="Arimo Bold"/>
              </a:rPr>
              <a:t>Business Insight Generation</a:t>
            </a:r>
          </a:p>
          <a:p>
            <a:pPr algn="l">
              <a:lnSpc>
                <a:spcPts val="4567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619285" y="-2408555"/>
            <a:ext cx="8069105" cy="8069105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31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4013098" y="1028700"/>
            <a:ext cx="7281479" cy="4977884"/>
          </a:xfrm>
          <a:custGeom>
            <a:avLst/>
            <a:gdLst/>
            <a:ahLst/>
            <a:cxnLst/>
            <a:rect r="r" b="b" t="t" l="l"/>
            <a:pathLst>
              <a:path h="4977884" w="7281479">
                <a:moveTo>
                  <a:pt x="0" y="0"/>
                </a:moveTo>
                <a:lnTo>
                  <a:pt x="7281479" y="0"/>
                </a:lnTo>
                <a:lnTo>
                  <a:pt x="7281479" y="4977884"/>
                </a:lnTo>
                <a:lnTo>
                  <a:pt x="0" y="49778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2709937"/>
            <a:ext cx="8432134" cy="1905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5"/>
              </a:lnSpc>
            </a:pPr>
            <a:r>
              <a:rPr lang="en-US" sz="6541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 Overview &amp; Structure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15701" y="5124450"/>
            <a:ext cx="13268952" cy="196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6"/>
              </a:lnSpc>
            </a:pPr>
            <a:r>
              <a:rPr lang="en-US" sz="3238" b="true">
                <a:solidFill>
                  <a:srgbClr val="545454"/>
                </a:solidFill>
                <a:latin typeface="Arimo Bold"/>
                <a:ea typeface="Arimo Bold"/>
                <a:cs typeface="Arimo Bold"/>
                <a:sym typeface="Arimo Bold"/>
              </a:rPr>
              <a:t>The dataset contains transactional supply chain data, including supplier information, product categories, regional sales, shipping information, revenue, profit, and operational performance indicators.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-708040" y="9225129"/>
            <a:ext cx="2123741" cy="212374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8F4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5788355" y="-490243"/>
            <a:ext cx="1922190" cy="1051962"/>
          </a:xfrm>
          <a:custGeom>
            <a:avLst/>
            <a:gdLst/>
            <a:ahLst/>
            <a:cxnLst/>
            <a:rect r="r" b="b" t="t" l="l"/>
            <a:pathLst>
              <a:path h="1051962" w="1922190">
                <a:moveTo>
                  <a:pt x="0" y="0"/>
                </a:moveTo>
                <a:lnTo>
                  <a:pt x="1922190" y="0"/>
                </a:lnTo>
                <a:lnTo>
                  <a:pt x="1922190" y="1051962"/>
                </a:lnTo>
                <a:lnTo>
                  <a:pt x="0" y="10519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072046" y="-9277"/>
            <a:ext cx="1653214" cy="2075954"/>
          </a:xfrm>
          <a:custGeom>
            <a:avLst/>
            <a:gdLst/>
            <a:ahLst/>
            <a:cxnLst/>
            <a:rect r="r" b="b" t="t" l="l"/>
            <a:pathLst>
              <a:path h="2075954" w="1653214">
                <a:moveTo>
                  <a:pt x="0" y="0"/>
                </a:moveTo>
                <a:lnTo>
                  <a:pt x="1653214" y="0"/>
                </a:lnTo>
                <a:lnTo>
                  <a:pt x="1653214" y="2075954"/>
                </a:lnTo>
                <a:lnTo>
                  <a:pt x="0" y="20759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64836" y="-216067"/>
            <a:ext cx="4138132" cy="2926004"/>
          </a:xfrm>
          <a:custGeom>
            <a:avLst/>
            <a:gdLst/>
            <a:ahLst/>
            <a:cxnLst/>
            <a:rect r="r" b="b" t="t" l="l"/>
            <a:pathLst>
              <a:path h="2926004" w="4138132">
                <a:moveTo>
                  <a:pt x="0" y="0"/>
                </a:moveTo>
                <a:lnTo>
                  <a:pt x="4138132" y="0"/>
                </a:lnTo>
                <a:lnTo>
                  <a:pt x="4138132" y="2926004"/>
                </a:lnTo>
                <a:lnTo>
                  <a:pt x="0" y="292600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235564" y="7762311"/>
            <a:ext cx="8397527" cy="3591298"/>
            <a:chOff x="0" y="0"/>
            <a:chExt cx="2372610" cy="101467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72610" cy="1014674"/>
            </a:xfrm>
            <a:custGeom>
              <a:avLst/>
              <a:gdLst/>
              <a:ahLst/>
              <a:cxnLst/>
              <a:rect r="r" b="b" t="t" l="l"/>
              <a:pathLst>
                <a:path h="1014674" w="2372610">
                  <a:moveTo>
                    <a:pt x="33189" y="0"/>
                  </a:moveTo>
                  <a:lnTo>
                    <a:pt x="2339420" y="0"/>
                  </a:lnTo>
                  <a:cubicBezTo>
                    <a:pt x="2348223" y="0"/>
                    <a:pt x="2356664" y="3497"/>
                    <a:pt x="2362889" y="9721"/>
                  </a:cubicBezTo>
                  <a:cubicBezTo>
                    <a:pt x="2369113" y="15945"/>
                    <a:pt x="2372610" y="24387"/>
                    <a:pt x="2372610" y="33189"/>
                  </a:cubicBezTo>
                  <a:lnTo>
                    <a:pt x="2372610" y="981484"/>
                  </a:lnTo>
                  <a:cubicBezTo>
                    <a:pt x="2372610" y="990287"/>
                    <a:pt x="2369113" y="998728"/>
                    <a:pt x="2362889" y="1004953"/>
                  </a:cubicBezTo>
                  <a:cubicBezTo>
                    <a:pt x="2356664" y="1011177"/>
                    <a:pt x="2348223" y="1014674"/>
                    <a:pt x="2339420" y="1014674"/>
                  </a:cubicBezTo>
                  <a:lnTo>
                    <a:pt x="33189" y="1014674"/>
                  </a:lnTo>
                  <a:cubicBezTo>
                    <a:pt x="24387" y="1014674"/>
                    <a:pt x="15945" y="1011177"/>
                    <a:pt x="9721" y="1004953"/>
                  </a:cubicBezTo>
                  <a:cubicBezTo>
                    <a:pt x="3497" y="998728"/>
                    <a:pt x="0" y="990287"/>
                    <a:pt x="0" y="981484"/>
                  </a:cubicBezTo>
                  <a:lnTo>
                    <a:pt x="0" y="33189"/>
                  </a:lnTo>
                  <a:cubicBezTo>
                    <a:pt x="0" y="24387"/>
                    <a:pt x="3497" y="15945"/>
                    <a:pt x="9721" y="9721"/>
                  </a:cubicBezTo>
                  <a:cubicBezTo>
                    <a:pt x="15945" y="3497"/>
                    <a:pt x="24387" y="0"/>
                    <a:pt x="33189" y="0"/>
                  </a:cubicBezTo>
                  <a:close/>
                </a:path>
              </a:pathLst>
            </a:custGeom>
            <a:solidFill>
              <a:srgbClr val="D752B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372610" cy="10432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633091" y="-2817141"/>
            <a:ext cx="7374471" cy="7374471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313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3507744" y="149447"/>
            <a:ext cx="3751556" cy="3907871"/>
          </a:xfrm>
          <a:custGeom>
            <a:avLst/>
            <a:gdLst/>
            <a:ahLst/>
            <a:cxnLst/>
            <a:rect r="r" b="b" t="t" l="l"/>
            <a:pathLst>
              <a:path h="3907871" w="3751556">
                <a:moveTo>
                  <a:pt x="0" y="0"/>
                </a:moveTo>
                <a:lnTo>
                  <a:pt x="3751556" y="0"/>
                </a:lnTo>
                <a:lnTo>
                  <a:pt x="3751556" y="3907872"/>
                </a:lnTo>
                <a:lnTo>
                  <a:pt x="0" y="39078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90155" y="2873787"/>
            <a:ext cx="10140558" cy="789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11"/>
              </a:lnSpc>
            </a:pPr>
            <a:r>
              <a:rPr lang="en-US" sz="5191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Delivery Performa</a:t>
            </a:r>
            <a:r>
              <a:rPr lang="en-US" sz="5191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nce Insights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90155" y="4538280"/>
            <a:ext cx="18261650" cy="2543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22946" indent="-361473" lvl="1">
              <a:lnSpc>
                <a:spcPts val="4018"/>
              </a:lnSpc>
              <a:buFont typeface="Arial"/>
              <a:buChar char="•"/>
            </a:pPr>
            <a:r>
              <a:rPr lang="en-US" sz="334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Av</a:t>
            </a:r>
            <a:r>
              <a:rPr lang="en-US" sz="334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erage shipping duration is 10 days.</a:t>
            </a:r>
          </a:p>
          <a:p>
            <a:pPr algn="just" marL="722946" indent="-361473" lvl="1">
              <a:lnSpc>
                <a:spcPts val="4018"/>
              </a:lnSpc>
              <a:buFont typeface="Arial"/>
              <a:buChar char="•"/>
            </a:pPr>
            <a:r>
              <a:rPr lang="en-US" sz="334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Supplier performance varies considerably.</a:t>
            </a:r>
          </a:p>
          <a:p>
            <a:pPr algn="just" marL="722946" indent="-361473" lvl="1">
              <a:lnSpc>
                <a:spcPts val="4018"/>
              </a:lnSpc>
              <a:buFont typeface="Arial"/>
              <a:buChar char="•"/>
            </a:pPr>
            <a:r>
              <a:rPr lang="en-US" sz="334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Standard shipping performs more efficiently than Overnight shipping.</a:t>
            </a:r>
          </a:p>
          <a:p>
            <a:pPr algn="just" marL="722946" indent="-361473" lvl="1">
              <a:lnSpc>
                <a:spcPts val="4018"/>
              </a:lnSpc>
              <a:buFont typeface="Arial"/>
              <a:buChar char="•"/>
            </a:pPr>
            <a:r>
              <a:rPr lang="en-US" sz="334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Damaged goods are evenly distributed across product categories.</a:t>
            </a:r>
          </a:p>
          <a:p>
            <a:pPr algn="just">
              <a:lnSpc>
                <a:spcPts val="4018"/>
              </a:lnSpc>
            </a:pPr>
          </a:p>
        </p:txBody>
      </p:sp>
      <p:grpSp>
        <p:nvGrpSpPr>
          <p:cNvPr name="Group 12" id="12"/>
          <p:cNvGrpSpPr/>
          <p:nvPr/>
        </p:nvGrpSpPr>
        <p:grpSpPr>
          <a:xfrm rot="0">
            <a:off x="-454735" y="344114"/>
            <a:ext cx="1244890" cy="124489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8F46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1395950" y="-181867"/>
            <a:ext cx="1922190" cy="1051962"/>
          </a:xfrm>
          <a:custGeom>
            <a:avLst/>
            <a:gdLst/>
            <a:ahLst/>
            <a:cxnLst/>
            <a:rect r="r" b="b" t="t" l="l"/>
            <a:pathLst>
              <a:path h="1051962" w="1922190">
                <a:moveTo>
                  <a:pt x="0" y="0"/>
                </a:moveTo>
                <a:lnTo>
                  <a:pt x="1922189" y="0"/>
                </a:lnTo>
                <a:lnTo>
                  <a:pt x="1922189" y="1051962"/>
                </a:lnTo>
                <a:lnTo>
                  <a:pt x="0" y="10519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64836" y="-216067"/>
            <a:ext cx="4138132" cy="2926004"/>
          </a:xfrm>
          <a:custGeom>
            <a:avLst/>
            <a:gdLst/>
            <a:ahLst/>
            <a:cxnLst/>
            <a:rect r="r" b="b" t="t" l="l"/>
            <a:pathLst>
              <a:path h="2926004" w="4138132">
                <a:moveTo>
                  <a:pt x="0" y="0"/>
                </a:moveTo>
                <a:lnTo>
                  <a:pt x="4138132" y="0"/>
                </a:lnTo>
                <a:lnTo>
                  <a:pt x="4138132" y="2926004"/>
                </a:lnTo>
                <a:lnTo>
                  <a:pt x="0" y="29260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712763" y="1411971"/>
            <a:ext cx="10396079" cy="1783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00"/>
              </a:lnSpc>
            </a:pPr>
            <a:r>
              <a:rPr lang="en-US" sz="6091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Profitabilit</a:t>
            </a:r>
            <a:r>
              <a:rPr lang="en-US" b="true" sz="609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y Analysis Insights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4211827"/>
            <a:ext cx="11220115" cy="4074133"/>
            <a:chOff x="0" y="0"/>
            <a:chExt cx="3170094" cy="11510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170094" cy="1151092"/>
            </a:xfrm>
            <a:custGeom>
              <a:avLst/>
              <a:gdLst/>
              <a:ahLst/>
              <a:cxnLst/>
              <a:rect r="r" b="b" t="t" l="l"/>
              <a:pathLst>
                <a:path h="1151092" w="3170094">
                  <a:moveTo>
                    <a:pt x="24840" y="0"/>
                  </a:moveTo>
                  <a:lnTo>
                    <a:pt x="3145254" y="0"/>
                  </a:lnTo>
                  <a:cubicBezTo>
                    <a:pt x="3158973" y="0"/>
                    <a:pt x="3170094" y="11121"/>
                    <a:pt x="3170094" y="24840"/>
                  </a:cubicBezTo>
                  <a:lnTo>
                    <a:pt x="3170094" y="1126252"/>
                  </a:lnTo>
                  <a:cubicBezTo>
                    <a:pt x="3170094" y="1139971"/>
                    <a:pt x="3158973" y="1151092"/>
                    <a:pt x="3145254" y="1151092"/>
                  </a:cubicBezTo>
                  <a:lnTo>
                    <a:pt x="24840" y="1151092"/>
                  </a:lnTo>
                  <a:cubicBezTo>
                    <a:pt x="18252" y="1151092"/>
                    <a:pt x="11934" y="1148475"/>
                    <a:pt x="7276" y="1143817"/>
                  </a:cubicBezTo>
                  <a:cubicBezTo>
                    <a:pt x="2617" y="1139158"/>
                    <a:pt x="0" y="1132840"/>
                    <a:pt x="0" y="1126252"/>
                  </a:cubicBezTo>
                  <a:lnTo>
                    <a:pt x="0" y="24840"/>
                  </a:lnTo>
                  <a:cubicBezTo>
                    <a:pt x="0" y="11121"/>
                    <a:pt x="11121" y="0"/>
                    <a:pt x="24840" y="0"/>
                  </a:cubicBezTo>
                  <a:close/>
                </a:path>
              </a:pathLst>
            </a:custGeom>
            <a:solidFill>
              <a:srgbClr val="FFC313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3170094" cy="1179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237891" y="4896343"/>
            <a:ext cx="11189662" cy="2695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7" indent="-323848" lvl="1">
              <a:lnSpc>
                <a:spcPts val="359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Total Revenue exceeds $712 million.</a:t>
            </a:r>
          </a:p>
          <a:p>
            <a:pPr algn="l" marL="647697" indent="-323848" lvl="1">
              <a:lnSpc>
                <a:spcPts val="359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Total Profit is approximately $196 million.</a:t>
            </a:r>
          </a:p>
          <a:p>
            <a:pPr algn="l" marL="647697" indent="-323848" lvl="1">
              <a:lnSpc>
                <a:spcPts val="359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Health &amp; Beauty contributes the highest profit.</a:t>
            </a:r>
          </a:p>
          <a:p>
            <a:pPr algn="l" marL="647697" indent="-323848" lvl="1">
              <a:lnSpc>
                <a:spcPts val="359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Several products consistently generate the highest revenue.</a:t>
            </a:r>
          </a:p>
          <a:p>
            <a:pPr algn="l">
              <a:lnSpc>
                <a:spcPts val="3599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2331841" y="9429749"/>
            <a:ext cx="6578961" cy="2669396"/>
            <a:chOff x="0" y="0"/>
            <a:chExt cx="1858798" cy="75420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58798" cy="754202"/>
            </a:xfrm>
            <a:custGeom>
              <a:avLst/>
              <a:gdLst/>
              <a:ahLst/>
              <a:cxnLst/>
              <a:rect r="r" b="b" t="t" l="l"/>
              <a:pathLst>
                <a:path h="754202" w="1858798">
                  <a:moveTo>
                    <a:pt x="42364" y="0"/>
                  </a:moveTo>
                  <a:lnTo>
                    <a:pt x="1816434" y="0"/>
                  </a:lnTo>
                  <a:cubicBezTo>
                    <a:pt x="1839831" y="0"/>
                    <a:pt x="1858798" y="18967"/>
                    <a:pt x="1858798" y="42364"/>
                  </a:cubicBezTo>
                  <a:lnTo>
                    <a:pt x="1858798" y="711839"/>
                  </a:lnTo>
                  <a:cubicBezTo>
                    <a:pt x="1858798" y="735236"/>
                    <a:pt x="1839831" y="754202"/>
                    <a:pt x="1816434" y="754202"/>
                  </a:cubicBezTo>
                  <a:lnTo>
                    <a:pt x="42364" y="754202"/>
                  </a:lnTo>
                  <a:cubicBezTo>
                    <a:pt x="18967" y="754202"/>
                    <a:pt x="0" y="735236"/>
                    <a:pt x="0" y="711839"/>
                  </a:cubicBezTo>
                  <a:lnTo>
                    <a:pt x="0" y="42364"/>
                  </a:lnTo>
                  <a:cubicBezTo>
                    <a:pt x="0" y="18967"/>
                    <a:pt x="18967" y="0"/>
                    <a:pt x="42364" y="0"/>
                  </a:cubicBezTo>
                  <a:close/>
                </a:path>
              </a:pathLst>
            </a:custGeom>
            <a:solidFill>
              <a:srgbClr val="33C88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858798" cy="7827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991158" y="5220691"/>
            <a:ext cx="8819224" cy="881922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8F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540959" y="-495425"/>
            <a:ext cx="1360278" cy="1360278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3C88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0991158" y="4087432"/>
            <a:ext cx="6801157" cy="5008124"/>
          </a:xfrm>
          <a:custGeom>
            <a:avLst/>
            <a:gdLst/>
            <a:ahLst/>
            <a:cxnLst/>
            <a:rect r="r" b="b" t="t" l="l"/>
            <a:pathLst>
              <a:path h="5008124" w="6801157">
                <a:moveTo>
                  <a:pt x="0" y="0"/>
                </a:moveTo>
                <a:lnTo>
                  <a:pt x="6801156" y="0"/>
                </a:lnTo>
                <a:lnTo>
                  <a:pt x="6801156" y="5008124"/>
                </a:lnTo>
                <a:lnTo>
                  <a:pt x="0" y="50081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664836" y="-216067"/>
            <a:ext cx="4138132" cy="2926004"/>
          </a:xfrm>
          <a:custGeom>
            <a:avLst/>
            <a:gdLst/>
            <a:ahLst/>
            <a:cxnLst/>
            <a:rect r="r" b="b" t="t" l="l"/>
            <a:pathLst>
              <a:path h="2926004" w="4138132">
                <a:moveTo>
                  <a:pt x="0" y="0"/>
                </a:moveTo>
                <a:lnTo>
                  <a:pt x="4138132" y="0"/>
                </a:lnTo>
                <a:lnTo>
                  <a:pt x="4138132" y="2926004"/>
                </a:lnTo>
                <a:lnTo>
                  <a:pt x="0" y="29260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820686" y="-2668714"/>
            <a:ext cx="8413043" cy="8413043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3C88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174527" y="2413735"/>
            <a:ext cx="7120724" cy="5088081"/>
          </a:xfrm>
          <a:custGeom>
            <a:avLst/>
            <a:gdLst/>
            <a:ahLst/>
            <a:cxnLst/>
            <a:rect r="r" b="b" t="t" l="l"/>
            <a:pathLst>
              <a:path h="5088081" w="7120724">
                <a:moveTo>
                  <a:pt x="0" y="0"/>
                </a:moveTo>
                <a:lnTo>
                  <a:pt x="7120724" y="0"/>
                </a:lnTo>
                <a:lnTo>
                  <a:pt x="7120724" y="5088081"/>
                </a:lnTo>
                <a:lnTo>
                  <a:pt x="0" y="50880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946197" y="3138073"/>
            <a:ext cx="10710290" cy="748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30"/>
              </a:lnSpc>
            </a:pPr>
            <a:r>
              <a:rPr lang="en-US" sz="4846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Inventory Optimiz</a:t>
            </a:r>
            <a:r>
              <a:rPr lang="en-US" b="true" sz="4846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ation Insights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6367861" y="9025282"/>
            <a:ext cx="2873514" cy="2873514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31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893490" y="9761019"/>
            <a:ext cx="1922190" cy="1051962"/>
          </a:xfrm>
          <a:custGeom>
            <a:avLst/>
            <a:gdLst/>
            <a:ahLst/>
            <a:cxnLst/>
            <a:rect r="r" b="b" t="t" l="l"/>
            <a:pathLst>
              <a:path h="1051962" w="1922190">
                <a:moveTo>
                  <a:pt x="0" y="0"/>
                </a:moveTo>
                <a:lnTo>
                  <a:pt x="1922190" y="0"/>
                </a:lnTo>
                <a:lnTo>
                  <a:pt x="1922190" y="1051962"/>
                </a:lnTo>
                <a:lnTo>
                  <a:pt x="0" y="10519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4034309" y="-817650"/>
            <a:ext cx="1635299" cy="1635299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752B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6843524" y="0"/>
            <a:ext cx="1653214" cy="2075954"/>
          </a:xfrm>
          <a:custGeom>
            <a:avLst/>
            <a:gdLst/>
            <a:ahLst/>
            <a:cxnLst/>
            <a:rect r="r" b="b" t="t" l="l"/>
            <a:pathLst>
              <a:path h="2075954" w="1653214">
                <a:moveTo>
                  <a:pt x="0" y="0"/>
                </a:moveTo>
                <a:lnTo>
                  <a:pt x="1653214" y="0"/>
                </a:lnTo>
                <a:lnTo>
                  <a:pt x="1653214" y="2075954"/>
                </a:lnTo>
                <a:lnTo>
                  <a:pt x="0" y="20759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526390" y="4938726"/>
            <a:ext cx="12161735" cy="2526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0399" indent="-300199" lvl="1">
              <a:lnSpc>
                <a:spcPts val="3337"/>
              </a:lnSpc>
              <a:buFont typeface="Arial"/>
              <a:buChar char="•"/>
            </a:pPr>
            <a:r>
              <a:rPr lang="en-US" b="true" sz="2780">
                <a:solidFill>
                  <a:srgbClr val="545454"/>
                </a:solidFill>
                <a:latin typeface="Arimo Bold"/>
                <a:ea typeface="Arimo Bold"/>
                <a:cs typeface="Arimo Bold"/>
                <a:sym typeface="Arimo Bold"/>
              </a:rPr>
              <a:t>P</a:t>
            </a:r>
            <a:r>
              <a:rPr lang="en-US" b="true" sz="2780">
                <a:solidFill>
                  <a:srgbClr val="545454"/>
                </a:solidFill>
                <a:latin typeface="Arimo Bold"/>
                <a:ea typeface="Arimo Bold"/>
                <a:cs typeface="Arimo Bold"/>
                <a:sym typeface="Arimo Bold"/>
              </a:rPr>
              <a:t>roduct demand varies across categories.</a:t>
            </a:r>
          </a:p>
          <a:p>
            <a:pPr algn="l" marL="600399" indent="-300199" lvl="1">
              <a:lnSpc>
                <a:spcPts val="3337"/>
              </a:lnSpc>
              <a:buFont typeface="Arial"/>
              <a:buChar char="•"/>
            </a:pPr>
            <a:r>
              <a:rPr lang="en-US" b="true" sz="2780">
                <a:solidFill>
                  <a:srgbClr val="545454"/>
                </a:solidFill>
                <a:latin typeface="Arimo Bold"/>
                <a:ea typeface="Arimo Bold"/>
                <a:cs typeface="Arimo Bold"/>
                <a:sym typeface="Arimo Bold"/>
              </a:rPr>
              <a:t>Inventory should be monitored to match customer demand and reduce stock imbalances.</a:t>
            </a:r>
          </a:p>
          <a:p>
            <a:pPr algn="l" marL="600399" indent="-300199" lvl="1">
              <a:lnSpc>
                <a:spcPts val="3337"/>
              </a:lnSpc>
              <a:buFont typeface="Arial"/>
              <a:buChar char="•"/>
            </a:pPr>
            <a:r>
              <a:rPr lang="en-US" b="true" sz="2780">
                <a:solidFill>
                  <a:srgbClr val="545454"/>
                </a:solidFill>
                <a:latin typeface="Arimo Bold"/>
                <a:ea typeface="Arimo Bold"/>
                <a:cs typeface="Arimo Bold"/>
                <a:sym typeface="Arimo Bold"/>
              </a:rPr>
              <a:t>The current dashboard does not provide sufficient evidence to conclude whether inventory is fully aligned with demand.</a:t>
            </a:r>
          </a:p>
          <a:p>
            <a:pPr algn="l">
              <a:lnSpc>
                <a:spcPts val="3337"/>
              </a:lnSpc>
            </a:pP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3518355" y="7886977"/>
            <a:ext cx="4138132" cy="2926004"/>
          </a:xfrm>
          <a:custGeom>
            <a:avLst/>
            <a:gdLst/>
            <a:ahLst/>
            <a:cxnLst/>
            <a:rect r="r" b="b" t="t" l="l"/>
            <a:pathLst>
              <a:path h="2926004" w="4138132">
                <a:moveTo>
                  <a:pt x="0" y="0"/>
                </a:moveTo>
                <a:lnTo>
                  <a:pt x="4138132" y="0"/>
                </a:lnTo>
                <a:lnTo>
                  <a:pt x="4138132" y="2926004"/>
                </a:lnTo>
                <a:lnTo>
                  <a:pt x="0" y="292600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937811" y="6072469"/>
            <a:ext cx="3206189" cy="3217891"/>
          </a:xfrm>
          <a:custGeom>
            <a:avLst/>
            <a:gdLst/>
            <a:ahLst/>
            <a:cxnLst/>
            <a:rect r="r" b="b" t="t" l="l"/>
            <a:pathLst>
              <a:path h="3217891" w="3206189">
                <a:moveTo>
                  <a:pt x="0" y="0"/>
                </a:moveTo>
                <a:lnTo>
                  <a:pt x="3206189" y="0"/>
                </a:lnTo>
                <a:lnTo>
                  <a:pt x="3206189" y="3217891"/>
                </a:lnTo>
                <a:lnTo>
                  <a:pt x="0" y="32178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1047222" y="5741910"/>
            <a:ext cx="7645564" cy="7645564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313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444230" y="4845089"/>
            <a:ext cx="5920224" cy="5672651"/>
          </a:xfrm>
          <a:custGeom>
            <a:avLst/>
            <a:gdLst/>
            <a:ahLst/>
            <a:cxnLst/>
            <a:rect r="r" b="b" t="t" l="l"/>
            <a:pathLst>
              <a:path h="5672651" w="5920224">
                <a:moveTo>
                  <a:pt x="0" y="0"/>
                </a:moveTo>
                <a:lnTo>
                  <a:pt x="5920225" y="0"/>
                </a:lnTo>
                <a:lnTo>
                  <a:pt x="5920225" y="5672652"/>
                </a:lnTo>
                <a:lnTo>
                  <a:pt x="0" y="56726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26718" y="1979834"/>
            <a:ext cx="8974611" cy="2028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6"/>
              </a:lnSpc>
            </a:pPr>
            <a:r>
              <a:rPr lang="en-US" sz="6996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Bus</a:t>
            </a:r>
            <a:r>
              <a:rPr lang="en-US" sz="6996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iness Trends &amp; Patterns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0" y="3328753"/>
            <a:ext cx="8791304" cy="4513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050" indent="-356025" lvl="1">
              <a:lnSpc>
                <a:spcPts val="3957"/>
              </a:lnSpc>
              <a:buFont typeface="Arial"/>
              <a:buChar char="•"/>
            </a:pPr>
            <a:r>
              <a:rPr lang="en-US" sz="3298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E</a:t>
            </a:r>
            <a:r>
              <a:rPr lang="en-US" sz="3298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ast Africa is the highest revenue-generating region.</a:t>
            </a:r>
          </a:p>
          <a:p>
            <a:pPr algn="l" marL="712050" indent="-356025" lvl="1">
              <a:lnSpc>
                <a:spcPts val="3957"/>
              </a:lnSpc>
              <a:buFont typeface="Arial"/>
              <a:buChar char="•"/>
            </a:pPr>
            <a:r>
              <a:rPr lang="en-US" sz="3298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Revenue remains relatively stable across the year.</a:t>
            </a:r>
          </a:p>
          <a:p>
            <a:pPr algn="l" marL="712050" indent="-356025" lvl="1">
              <a:lnSpc>
                <a:spcPts val="3957"/>
              </a:lnSpc>
              <a:buFont typeface="Arial"/>
              <a:buChar char="•"/>
            </a:pPr>
            <a:r>
              <a:rPr lang="en-US" sz="3298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Busin</a:t>
            </a:r>
            <a:r>
              <a:rPr lang="en-US" sz="3298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e</a:t>
            </a:r>
            <a:r>
              <a:rPr lang="en-US" sz="3298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s</a:t>
            </a:r>
            <a:r>
              <a:rPr lang="en-US" sz="3298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s </a:t>
            </a:r>
            <a:r>
              <a:rPr lang="en-US" sz="3298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p</a:t>
            </a:r>
            <a:r>
              <a:rPr lang="en-US" sz="3298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e</a:t>
            </a:r>
            <a:r>
              <a:rPr lang="en-US" sz="3298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r</a:t>
            </a:r>
            <a:r>
              <a:rPr lang="en-US" sz="3298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f</a:t>
            </a:r>
            <a:r>
              <a:rPr lang="en-US" sz="3298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ormance is diversified across multiple product categories.</a:t>
            </a:r>
          </a:p>
          <a:p>
            <a:pPr algn="l" marL="712050" indent="-356025" lvl="1">
              <a:lnSpc>
                <a:spcPts val="3957"/>
              </a:lnSpc>
              <a:buFont typeface="Arial"/>
              <a:buChar char="•"/>
            </a:pPr>
            <a:r>
              <a:rPr lang="en-US" sz="3298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A small group of suppliers contributes a significant portion of total revenue.</a:t>
            </a:r>
          </a:p>
          <a:p>
            <a:pPr algn="l">
              <a:lnSpc>
                <a:spcPts val="3957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16693588" y="-917392"/>
            <a:ext cx="2222060" cy="222206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8F46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6881624" y="9536117"/>
            <a:ext cx="1922190" cy="1051962"/>
          </a:xfrm>
          <a:custGeom>
            <a:avLst/>
            <a:gdLst/>
            <a:ahLst/>
            <a:cxnLst/>
            <a:rect r="r" b="b" t="t" l="l"/>
            <a:pathLst>
              <a:path h="1051962" w="1922190">
                <a:moveTo>
                  <a:pt x="0" y="0"/>
                </a:moveTo>
                <a:lnTo>
                  <a:pt x="1922189" y="0"/>
                </a:lnTo>
                <a:lnTo>
                  <a:pt x="1922189" y="1051962"/>
                </a:lnTo>
                <a:lnTo>
                  <a:pt x="0" y="105196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7982707" y="9536117"/>
            <a:ext cx="1718623" cy="1718623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752B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2251788" y="-105645"/>
            <a:ext cx="1653214" cy="2075954"/>
          </a:xfrm>
          <a:custGeom>
            <a:avLst/>
            <a:gdLst/>
            <a:ahLst/>
            <a:cxnLst/>
            <a:rect r="r" b="b" t="t" l="l"/>
            <a:pathLst>
              <a:path h="2075954" w="1653214">
                <a:moveTo>
                  <a:pt x="0" y="0"/>
                </a:moveTo>
                <a:lnTo>
                  <a:pt x="1653214" y="0"/>
                </a:lnTo>
                <a:lnTo>
                  <a:pt x="1653214" y="2075954"/>
                </a:lnTo>
                <a:lnTo>
                  <a:pt x="0" y="207595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3121168" y="0"/>
            <a:ext cx="4138132" cy="2926004"/>
          </a:xfrm>
          <a:custGeom>
            <a:avLst/>
            <a:gdLst/>
            <a:ahLst/>
            <a:cxnLst/>
            <a:rect r="r" b="b" t="t" l="l"/>
            <a:pathLst>
              <a:path h="2926004" w="4138132">
                <a:moveTo>
                  <a:pt x="0" y="0"/>
                </a:moveTo>
                <a:lnTo>
                  <a:pt x="4138132" y="0"/>
                </a:lnTo>
                <a:lnTo>
                  <a:pt x="4138132" y="2926004"/>
                </a:lnTo>
                <a:lnTo>
                  <a:pt x="0" y="292600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44000" y="4961119"/>
            <a:ext cx="11897496" cy="11897496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8F4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147219" y="4514739"/>
            <a:ext cx="6884092" cy="7395020"/>
          </a:xfrm>
          <a:custGeom>
            <a:avLst/>
            <a:gdLst/>
            <a:ahLst/>
            <a:cxnLst/>
            <a:rect r="r" b="b" t="t" l="l"/>
            <a:pathLst>
              <a:path h="7395020" w="6884092">
                <a:moveTo>
                  <a:pt x="0" y="0"/>
                </a:moveTo>
                <a:lnTo>
                  <a:pt x="6884091" y="0"/>
                </a:lnTo>
                <a:lnTo>
                  <a:pt x="6884091" y="7395020"/>
                </a:lnTo>
                <a:lnTo>
                  <a:pt x="0" y="73950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611632" y="1425684"/>
            <a:ext cx="8087760" cy="1902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247"/>
              </a:lnSpc>
            </a:pPr>
            <a:r>
              <a:rPr lang="en-US" sz="6588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Strat</a:t>
            </a:r>
            <a:r>
              <a:rPr lang="en-US" b="true" sz="6588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egic Recommendations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07227" y="2681362"/>
            <a:ext cx="8604404" cy="6623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2660" indent="-391330" lvl="1">
              <a:lnSpc>
                <a:spcPts val="4350"/>
              </a:lnSpc>
              <a:buFont typeface="Arial"/>
              <a:buChar char="•"/>
            </a:pPr>
            <a:r>
              <a:rPr lang="en-US" sz="3625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Impr</a:t>
            </a:r>
            <a:r>
              <a:rPr lang="en-US" sz="3625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ove supplier performance monitoring.</a:t>
            </a:r>
          </a:p>
          <a:p>
            <a:pPr algn="l" marL="782660" indent="-391330" lvl="1">
              <a:lnSpc>
                <a:spcPts val="4350"/>
              </a:lnSpc>
              <a:buFont typeface="Arial"/>
              <a:buChar char="•"/>
            </a:pPr>
            <a:r>
              <a:rPr lang="en-US" sz="3625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Optimize shipping operations to reduce delivery time.</a:t>
            </a:r>
          </a:p>
          <a:p>
            <a:pPr algn="l" marL="782660" indent="-391330" lvl="1">
              <a:lnSpc>
                <a:spcPts val="4350"/>
              </a:lnSpc>
              <a:buFont typeface="Arial"/>
              <a:buChar char="•"/>
            </a:pPr>
            <a:r>
              <a:rPr lang="en-US" sz="3625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Focus sales efforts on high-performing regions and products.</a:t>
            </a:r>
          </a:p>
          <a:p>
            <a:pPr algn="l" marL="782660" indent="-391330" lvl="1">
              <a:lnSpc>
                <a:spcPts val="4350"/>
              </a:lnSpc>
              <a:buFont typeface="Arial"/>
              <a:buChar char="•"/>
            </a:pPr>
            <a:r>
              <a:rPr lang="en-US" sz="3625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Monitor inventory levels more closely to reduce shortages and excess stock.</a:t>
            </a:r>
          </a:p>
          <a:p>
            <a:pPr algn="l" marL="782660" indent="-391330" lvl="1">
              <a:lnSpc>
                <a:spcPts val="4350"/>
              </a:lnSpc>
              <a:buFont typeface="Arial"/>
              <a:buChar char="•"/>
            </a:pPr>
            <a:r>
              <a:rPr lang="en-US" sz="3625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Strengthen quality control processes to minimize damaged goods.</a:t>
            </a:r>
          </a:p>
          <a:p>
            <a:pPr algn="l">
              <a:lnSpc>
                <a:spcPts val="4350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7528107" y="-817650"/>
            <a:ext cx="1635299" cy="1635299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752B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7259300" y="-659795"/>
            <a:ext cx="1653214" cy="2075954"/>
          </a:xfrm>
          <a:custGeom>
            <a:avLst/>
            <a:gdLst/>
            <a:ahLst/>
            <a:cxnLst/>
            <a:rect r="r" b="b" t="t" l="l"/>
            <a:pathLst>
              <a:path h="2075954" w="1653214">
                <a:moveTo>
                  <a:pt x="0" y="0"/>
                </a:moveTo>
                <a:lnTo>
                  <a:pt x="1653214" y="0"/>
                </a:lnTo>
                <a:lnTo>
                  <a:pt x="1653214" y="2075954"/>
                </a:lnTo>
                <a:lnTo>
                  <a:pt x="0" y="20759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64836" y="-216067"/>
            <a:ext cx="4138132" cy="2926004"/>
          </a:xfrm>
          <a:custGeom>
            <a:avLst/>
            <a:gdLst/>
            <a:ahLst/>
            <a:cxnLst/>
            <a:rect r="r" b="b" t="t" l="l"/>
            <a:pathLst>
              <a:path h="2926004" w="4138132">
                <a:moveTo>
                  <a:pt x="0" y="0"/>
                </a:moveTo>
                <a:lnTo>
                  <a:pt x="4138132" y="0"/>
                </a:lnTo>
                <a:lnTo>
                  <a:pt x="4138132" y="2926004"/>
                </a:lnTo>
                <a:lnTo>
                  <a:pt x="0" y="29260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740598" y="-82696"/>
            <a:ext cx="8413043" cy="8413043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3C88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673623" y="4416347"/>
            <a:ext cx="9683905" cy="96839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B70F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1486843" y="3322223"/>
            <a:ext cx="6801157" cy="5008124"/>
          </a:xfrm>
          <a:custGeom>
            <a:avLst/>
            <a:gdLst/>
            <a:ahLst/>
            <a:cxnLst/>
            <a:rect r="r" b="b" t="t" l="l"/>
            <a:pathLst>
              <a:path h="5008124" w="6801157">
                <a:moveTo>
                  <a:pt x="0" y="0"/>
                </a:moveTo>
                <a:lnTo>
                  <a:pt x="6801157" y="0"/>
                </a:lnTo>
                <a:lnTo>
                  <a:pt x="6801157" y="5008124"/>
                </a:lnTo>
                <a:lnTo>
                  <a:pt x="0" y="50081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76887" y="2501227"/>
            <a:ext cx="11298728" cy="781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774"/>
              </a:lnSpc>
            </a:pPr>
            <a:r>
              <a:rPr lang="en-US" sz="5249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Con</a:t>
            </a:r>
            <a:r>
              <a:rPr lang="en-US" b="true" sz="5249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clusion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76887" y="-817650"/>
            <a:ext cx="1635299" cy="1635299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752B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876887" y="3825469"/>
            <a:ext cx="11167850" cy="399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5"/>
              </a:lnSpc>
            </a:pPr>
            <a:r>
              <a:rPr lang="en-US" sz="3271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T</a:t>
            </a:r>
            <a:r>
              <a:rPr lang="en-US" sz="3271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he Power BI dashboards provide management with an interactive view of GlobalMart's supply chain and business performance. The analysis identifies opportunities to improve delivery</a:t>
            </a:r>
            <a:r>
              <a:rPr lang="en-US" sz="3271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 efficiency, supplier performance, inventory management, and profitability. Implementing the recommended actions will support better operational efficiency, enhanced customer satisfaction, and sustainable business growth.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360672" y="-82696"/>
            <a:ext cx="4138132" cy="2926004"/>
          </a:xfrm>
          <a:custGeom>
            <a:avLst/>
            <a:gdLst/>
            <a:ahLst/>
            <a:cxnLst/>
            <a:rect r="r" b="b" t="t" l="l"/>
            <a:pathLst>
              <a:path h="2926004" w="4138132">
                <a:moveTo>
                  <a:pt x="0" y="0"/>
                </a:moveTo>
                <a:lnTo>
                  <a:pt x="4138132" y="0"/>
                </a:lnTo>
                <a:lnTo>
                  <a:pt x="4138132" y="2926004"/>
                </a:lnTo>
                <a:lnTo>
                  <a:pt x="0" y="29260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850314" y="-2303949"/>
            <a:ext cx="9631847" cy="9631847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8F4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5352724" y="7327898"/>
            <a:ext cx="9497590" cy="7200900"/>
          </a:xfrm>
          <a:custGeom>
            <a:avLst/>
            <a:gdLst/>
            <a:ahLst/>
            <a:cxnLst/>
            <a:rect r="r" b="b" t="t" l="l"/>
            <a:pathLst>
              <a:path h="7200900" w="9497590">
                <a:moveTo>
                  <a:pt x="0" y="0"/>
                </a:moveTo>
                <a:lnTo>
                  <a:pt x="9497590" y="0"/>
                </a:lnTo>
                <a:lnTo>
                  <a:pt x="9497590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-3587023" y="1774094"/>
            <a:ext cx="4152886" cy="469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7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Wa</a:t>
            </a:r>
            <a:r>
              <a:rPr lang="en-US" sz="27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rner &amp; Spencer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-1121856" y="8524010"/>
            <a:ext cx="3525979" cy="3525979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752B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5086350" y="4415790"/>
            <a:ext cx="8115300" cy="1455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60"/>
              </a:lnSpc>
            </a:pPr>
            <a:r>
              <a:rPr lang="en-US" sz="96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-185473" y="-478801"/>
            <a:ext cx="1653214" cy="2075954"/>
          </a:xfrm>
          <a:custGeom>
            <a:avLst/>
            <a:gdLst/>
            <a:ahLst/>
            <a:cxnLst/>
            <a:rect r="r" b="b" t="t" l="l"/>
            <a:pathLst>
              <a:path h="2075954" w="1653214">
                <a:moveTo>
                  <a:pt x="0" y="0"/>
                </a:moveTo>
                <a:lnTo>
                  <a:pt x="1653214" y="0"/>
                </a:lnTo>
                <a:lnTo>
                  <a:pt x="1653214" y="2075954"/>
                </a:lnTo>
                <a:lnTo>
                  <a:pt x="0" y="20759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491497" y="2032539"/>
            <a:ext cx="4138132" cy="2926004"/>
          </a:xfrm>
          <a:custGeom>
            <a:avLst/>
            <a:gdLst/>
            <a:ahLst/>
            <a:cxnLst/>
            <a:rect r="r" b="b" t="t" l="l"/>
            <a:pathLst>
              <a:path h="2926004" w="4138132">
                <a:moveTo>
                  <a:pt x="0" y="0"/>
                </a:moveTo>
                <a:lnTo>
                  <a:pt x="4138132" y="0"/>
                </a:lnTo>
                <a:lnTo>
                  <a:pt x="4138132" y="2926005"/>
                </a:lnTo>
                <a:lnTo>
                  <a:pt x="0" y="29260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DAHP7AdZ5_0</dc:identifier>
  <dcterms:modified xsi:type="dcterms:W3CDTF">2011-08-01T06:04:30Z</dcterms:modified>
  <cp:revision>1</cp:revision>
  <dc:title>From Learning to Leading: Decisions</dc:title>
</cp:coreProperties>
</file>